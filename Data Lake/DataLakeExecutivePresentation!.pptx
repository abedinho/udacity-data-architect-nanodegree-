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0" r:id="rId5"/>
    <p:sldId id="261" r:id="rId6"/>
    <p:sldId id="265" r:id="rId7"/>
    <p:sldId id="262" r:id="rId8"/>
    <p:sldId id="263" r:id="rId9"/>
    <p:sldId id="267" r:id="rId10"/>
    <p:sldId id="264"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71973"/>
  </p:normalViewPr>
  <p:slideViewPr>
    <p:cSldViewPr snapToGrid="0" snapToObjects="1">
      <p:cViewPr varScale="1">
        <p:scale>
          <a:sx n="90" d="100"/>
          <a:sy n="90" d="100"/>
        </p:scale>
        <p:origin x="76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EA5EEC-3E3F-2648-B57D-40D9758904EF}" type="datetimeFigureOut">
              <a:rPr lang="en-NG" smtClean="0"/>
              <a:t>18/12/2025</a:t>
            </a:fld>
            <a:endParaRPr lang="en-N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205EB1-944F-2D45-83B8-FCCC38F15D5C}" type="slidenum">
              <a:rPr lang="en-NG" smtClean="0"/>
              <a:t>‹#›</a:t>
            </a:fld>
            <a:endParaRPr lang="en-NG"/>
          </a:p>
        </p:txBody>
      </p:sp>
    </p:spTree>
    <p:extLst>
      <p:ext uri="{BB962C8B-B14F-4D97-AF65-F5344CB8AC3E}">
        <p14:creationId xmlns:p14="http://schemas.microsoft.com/office/powerpoint/2010/main" val="2524628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NG"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D5C62-6CD1-23E6-F6E0-D3EFEA816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721A3-B0FC-5E5C-BCAF-7D90E0579F4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8DCDA3F-9E56-3860-2E9A-2484C129C67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CB099D8A-0690-25BD-4475-FCE36CEED3D9}"/>
              </a:ext>
            </a:extLst>
          </p:cNvPr>
          <p:cNvSpPr>
            <a:spLocks noGrp="1"/>
          </p:cNvSpPr>
          <p:nvPr>
            <p:ph type="sldNum" sz="quarter" idx="5"/>
          </p:nvPr>
        </p:nvSpPr>
        <p:spPr/>
      </p:sp>
    </p:spTree>
    <p:extLst>
      <p:ext uri="{BB962C8B-B14F-4D97-AF65-F5344CB8AC3E}">
        <p14:creationId xmlns:p14="http://schemas.microsoft.com/office/powerpoint/2010/main" val="1336242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6C49C-92FD-3FB1-A2FC-2072180C2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FCD22-B93A-EBBE-42F0-04179F597E8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9307E2-740F-5DEE-D88A-96752B354FB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F2D914F-4732-A5FE-B9FD-CAFF9D9603D9}"/>
              </a:ext>
            </a:extLst>
          </p:cNvPr>
          <p:cNvSpPr>
            <a:spLocks noGrp="1"/>
          </p:cNvSpPr>
          <p:nvPr>
            <p:ph type="sldNum" sz="quarter" idx="5"/>
          </p:nvPr>
        </p:nvSpPr>
        <p:spPr/>
      </p:sp>
    </p:spTree>
    <p:extLst>
      <p:ext uri="{BB962C8B-B14F-4D97-AF65-F5344CB8AC3E}">
        <p14:creationId xmlns:p14="http://schemas.microsoft.com/office/powerpoint/2010/main" val="312100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37939-F393-74CA-EABC-558B70523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094E1-1FF4-6F0A-10D4-A2480EEB052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6A5F462-64F1-8DEF-F7FB-F75DB0249ED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B0D50622-DF48-A43A-8B66-5E29EAC3DB9D}"/>
              </a:ext>
            </a:extLst>
          </p:cNvPr>
          <p:cNvSpPr>
            <a:spLocks noGrp="1"/>
          </p:cNvSpPr>
          <p:nvPr>
            <p:ph type="sldNum" sz="quarter" idx="5"/>
          </p:nvPr>
        </p:nvSpPr>
        <p:spPr/>
      </p:sp>
    </p:spTree>
    <p:extLst>
      <p:ext uri="{BB962C8B-B14F-4D97-AF65-F5344CB8AC3E}">
        <p14:creationId xmlns:p14="http://schemas.microsoft.com/office/powerpoint/2010/main" val="361743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Data Lake Value Proposition</a:t>
            </a:r>
          </a:p>
        </p:txBody>
      </p:sp>
      <p:sp>
        <p:nvSpPr>
          <p:cNvPr id="3" name="Subtitle 2"/>
          <p:cNvSpPr>
            <a:spLocks noGrp="1"/>
          </p:cNvSpPr>
          <p:nvPr>
            <p:ph type="subTitle" idx="1"/>
          </p:nvPr>
        </p:nvSpPr>
        <p:spPr/>
        <p:txBody>
          <a:bodyPr/>
          <a:lstStyle/>
          <a:p>
            <a:r>
              <a:rPr dirty="0"/>
              <a:t>Presented by </a:t>
            </a:r>
            <a:r>
              <a:rPr lang="en-US" dirty="0"/>
              <a:t>Abiodun Dare</a:t>
            </a:r>
            <a:br>
              <a:rPr lang="en-US" dirty="0"/>
            </a:br>
            <a:r>
              <a:rPr lang="en-US" dirty="0"/>
              <a:t>Data Architect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058400" cy="640080"/>
          </a:xfrm>
          <a:prstGeom prst="rect">
            <a:avLst/>
          </a:prstGeom>
          <a:noFill/>
        </p:spPr>
        <p:txBody>
          <a:bodyPr wrap="none">
            <a:spAutoFit/>
          </a:bodyPr>
          <a:lstStyle/>
          <a:p>
            <a:pPr>
              <a:defRPr sz="2600" b="1">
                <a:solidFill>
                  <a:srgbClr val="FFFFFF"/>
                </a:solidFill>
              </a:defRPr>
            </a:pPr>
            <a:r>
              <a:t>Agenda</a:t>
            </a:r>
          </a:p>
        </p:txBody>
      </p:sp>
      <p:sp>
        <p:nvSpPr>
          <p:cNvPr id="4" name="TextBox 3"/>
          <p:cNvSpPr txBox="1"/>
          <p:nvPr/>
        </p:nvSpPr>
        <p:spPr>
          <a:xfrm>
            <a:off x="914400" y="1463040"/>
            <a:ext cx="4006674" cy="2893100"/>
          </a:xfrm>
          <a:prstGeom prst="rect">
            <a:avLst/>
          </a:prstGeom>
          <a:noFill/>
        </p:spPr>
        <p:txBody>
          <a:bodyPr wrap="none">
            <a:spAutoFit/>
          </a:bodyPr>
          <a:lstStyle/>
          <a:p>
            <a:pPr marL="342900" indent="-342900">
              <a:buFont typeface="Arial" panose="020B0604020202020204" pitchFamily="34" charset="0"/>
              <a:buChar char="•"/>
              <a:defRPr sz="2000">
                <a:solidFill>
                  <a:srgbClr val="282828"/>
                </a:solidFill>
              </a:defRPr>
            </a:pPr>
            <a:r>
              <a:rPr dirty="0"/>
              <a:t>Why This Matters to the Board</a:t>
            </a:r>
          </a:p>
          <a:p>
            <a:pPr marL="285750" indent="-285750">
              <a:buFont typeface="Arial" panose="020B0604020202020204" pitchFamily="34" charset="0"/>
              <a:buChar char="•"/>
            </a:pPr>
            <a:r>
              <a:rPr dirty="0"/>
              <a:t>3–5 Year Cost Avoidance</a:t>
            </a:r>
          </a:p>
          <a:p>
            <a:pPr marL="285750" indent="-285750">
              <a:buFont typeface="Arial" panose="020B0604020202020204" pitchFamily="34" charset="0"/>
              <a:buChar char="•"/>
            </a:pPr>
            <a:r>
              <a:rPr dirty="0"/>
              <a:t>Why Now?</a:t>
            </a:r>
            <a:endParaRPr lang="en-US" dirty="0"/>
          </a:p>
          <a:p>
            <a:pPr marL="285750" indent="-285750">
              <a:buFont typeface="Arial" panose="020B0604020202020204" pitchFamily="34" charset="0"/>
              <a:buChar char="•"/>
            </a:pPr>
            <a:r>
              <a:rPr lang="en-NG" dirty="0"/>
              <a:t>Data Warehoure v Data Lake</a:t>
            </a:r>
            <a:endParaRPr dirty="0"/>
          </a:p>
          <a:p>
            <a:pPr marL="285750" indent="-285750">
              <a:buFont typeface="Arial" panose="020B0604020202020204" pitchFamily="34" charset="0"/>
              <a:buChar char="•"/>
            </a:pPr>
            <a:r>
              <a:rPr dirty="0"/>
              <a:t>What Happens If We Don’t Act</a:t>
            </a:r>
          </a:p>
          <a:p>
            <a:pPr marL="285750" indent="-285750">
              <a:buFont typeface="Arial" panose="020B0604020202020204" pitchFamily="34" charset="0"/>
              <a:buChar char="•"/>
            </a:pPr>
            <a:r>
              <a:rPr dirty="0"/>
              <a:t>Data Lake Capabilities (Abstract View)</a:t>
            </a:r>
            <a:endParaRPr lang="en-US" dirty="0"/>
          </a:p>
          <a:p>
            <a:pPr marL="285750" indent="-285750">
              <a:buFont typeface="Arial" panose="020B0604020202020204" pitchFamily="34" charset="0"/>
              <a:buChar char="•"/>
            </a:pPr>
            <a:r>
              <a:rPr lang="en-US" dirty="0"/>
              <a:t>Data Lake Components</a:t>
            </a:r>
            <a:endParaRPr dirty="0"/>
          </a:p>
          <a:p>
            <a:pPr marL="285750" indent="-285750">
              <a:buFont typeface="Arial" panose="020B0604020202020204" pitchFamily="34" charset="0"/>
              <a:buChar char="•"/>
            </a:pPr>
            <a:r>
              <a:rPr dirty="0"/>
              <a:t>Board-Level Takeaway</a:t>
            </a:r>
            <a:endParaRPr lang="en-US" dirty="0"/>
          </a:p>
          <a:p>
            <a:pPr marL="285750" indent="-285750">
              <a:buFont typeface="Arial" panose="020B0604020202020204" pitchFamily="34" charset="0"/>
              <a:buChar char="•"/>
            </a:pPr>
            <a:r>
              <a:rPr lang="en-US" dirty="0"/>
              <a:t>Data Lake Architecture</a:t>
            </a:r>
          </a:p>
          <a:p>
            <a:pPr marL="285750" indent="-285750">
              <a:buFont typeface="Arial" panose="020B0604020202020204" pitchFamily="34" charset="0"/>
              <a:buChar char="•"/>
            </a:pPr>
            <a:endParaRPr dirty="0"/>
          </a:p>
        </p:txBody>
      </p:sp>
      <p:sp>
        <p:nvSpPr>
          <p:cNvPr id="5" name="TextBox 4"/>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058400" cy="640080"/>
          </a:xfrm>
          <a:prstGeom prst="rect">
            <a:avLst/>
          </a:prstGeom>
          <a:noFill/>
        </p:spPr>
        <p:txBody>
          <a:bodyPr wrap="none">
            <a:spAutoFit/>
          </a:bodyPr>
          <a:lstStyle/>
          <a:p>
            <a:pPr>
              <a:defRPr sz="2600" b="1">
                <a:solidFill>
                  <a:srgbClr val="FFFFFF"/>
                </a:solidFill>
              </a:defRPr>
            </a:pPr>
            <a:r>
              <a:t>Why This Matters to the Board</a:t>
            </a:r>
          </a:p>
        </p:txBody>
      </p:sp>
      <p:sp>
        <p:nvSpPr>
          <p:cNvPr id="4" name="TextBox 3"/>
          <p:cNvSpPr txBox="1"/>
          <p:nvPr/>
        </p:nvSpPr>
        <p:spPr>
          <a:xfrm>
            <a:off x="914400" y="1463040"/>
            <a:ext cx="10332720" cy="4389120"/>
          </a:xfrm>
          <a:prstGeom prst="rect">
            <a:avLst/>
          </a:prstGeom>
          <a:noFill/>
        </p:spPr>
        <p:txBody>
          <a:bodyPr wrap="none">
            <a:spAutoFit/>
          </a:bodyPr>
          <a:lstStyle/>
          <a:p>
            <a:pPr>
              <a:defRPr sz="2000">
                <a:solidFill>
                  <a:srgbClr val="282828"/>
                </a:solidFill>
              </a:defRPr>
            </a:pPr>
            <a:r>
              <a:t>Healthcare data volumes are accelerating rapidly</a:t>
            </a:r>
          </a:p>
          <a:p>
            <a:pPr>
              <a:defRPr sz="2000">
                <a:solidFill>
                  <a:srgbClr val="282828"/>
                </a:solidFill>
              </a:defRPr>
            </a:pPr>
            <a:r>
              <a:t>Legacy platforms constrain insight and scalability</a:t>
            </a:r>
          </a:p>
          <a:p>
            <a:pPr>
              <a:defRPr sz="2000">
                <a:solidFill>
                  <a:srgbClr val="282828"/>
                </a:solidFill>
              </a:defRPr>
            </a:pPr>
            <a:r>
              <a:t>The Data Lake enables faster, more confident decisions</a:t>
            </a:r>
          </a:p>
        </p:txBody>
      </p:sp>
      <p:sp>
        <p:nvSpPr>
          <p:cNvPr id="5" name="TextBox 4"/>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058400" cy="640080"/>
          </a:xfrm>
          <a:prstGeom prst="rect">
            <a:avLst/>
          </a:prstGeom>
          <a:noFill/>
        </p:spPr>
        <p:txBody>
          <a:bodyPr wrap="none">
            <a:spAutoFit/>
          </a:bodyPr>
          <a:lstStyle/>
          <a:p>
            <a:pPr>
              <a:defRPr sz="2600" b="1">
                <a:solidFill>
                  <a:srgbClr val="FFFFFF"/>
                </a:solidFill>
              </a:defRPr>
            </a:pPr>
            <a:r>
              <a:t>3–5 Year Cost Avoidance</a:t>
            </a:r>
          </a:p>
        </p:txBody>
      </p:sp>
      <p:sp>
        <p:nvSpPr>
          <p:cNvPr id="4" name="TextBox 3"/>
          <p:cNvSpPr txBox="1"/>
          <p:nvPr/>
        </p:nvSpPr>
        <p:spPr>
          <a:xfrm>
            <a:off x="914400" y="1463040"/>
            <a:ext cx="10332720" cy="4389120"/>
          </a:xfrm>
          <a:prstGeom prst="rect">
            <a:avLst/>
          </a:prstGeom>
          <a:noFill/>
        </p:spPr>
        <p:txBody>
          <a:bodyPr wrap="none">
            <a:spAutoFit/>
          </a:bodyPr>
          <a:lstStyle/>
          <a:p>
            <a:pPr>
              <a:defRPr sz="2000">
                <a:solidFill>
                  <a:srgbClr val="282828"/>
                </a:solidFill>
              </a:defRPr>
            </a:pPr>
            <a:r>
              <a:t>Avoid recurring hardware refresh cycles</a:t>
            </a:r>
          </a:p>
          <a:p>
            <a:pPr>
              <a:defRPr sz="2000">
                <a:solidFill>
                  <a:srgbClr val="282828"/>
                </a:solidFill>
              </a:defRPr>
            </a:pPr>
            <a:r>
              <a:t>Prevent exponential license cost growth</a:t>
            </a:r>
          </a:p>
          <a:p>
            <a:pPr>
              <a:defRPr sz="2000">
                <a:solidFill>
                  <a:srgbClr val="282828"/>
                </a:solidFill>
              </a:defRPr>
            </a:pPr>
            <a:r>
              <a:t>Lower cost per terabyte as data scales</a:t>
            </a:r>
          </a:p>
          <a:p>
            <a:pPr>
              <a:defRPr sz="2000">
                <a:solidFill>
                  <a:srgbClr val="282828"/>
                </a:solidFill>
              </a:defRPr>
            </a:pPr>
            <a:r>
              <a:t>Avoid future re-platforming expenses</a:t>
            </a:r>
          </a:p>
        </p:txBody>
      </p:sp>
      <p:sp>
        <p:nvSpPr>
          <p:cNvPr id="5" name="TextBox 4"/>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058400" cy="640080"/>
          </a:xfrm>
          <a:prstGeom prst="rect">
            <a:avLst/>
          </a:prstGeom>
          <a:noFill/>
        </p:spPr>
        <p:txBody>
          <a:bodyPr wrap="none">
            <a:spAutoFit/>
          </a:bodyPr>
          <a:lstStyle/>
          <a:p>
            <a:pPr>
              <a:defRPr sz="2600" b="1">
                <a:solidFill>
                  <a:srgbClr val="FFFFFF"/>
                </a:solidFill>
              </a:defRPr>
            </a:pPr>
            <a:r>
              <a:t>Why Now?</a:t>
            </a:r>
          </a:p>
        </p:txBody>
      </p:sp>
      <p:sp>
        <p:nvSpPr>
          <p:cNvPr id="4" name="TextBox 3"/>
          <p:cNvSpPr txBox="1"/>
          <p:nvPr/>
        </p:nvSpPr>
        <p:spPr>
          <a:xfrm>
            <a:off x="914400" y="1463040"/>
            <a:ext cx="10332720" cy="4389120"/>
          </a:xfrm>
          <a:prstGeom prst="rect">
            <a:avLst/>
          </a:prstGeom>
          <a:noFill/>
        </p:spPr>
        <p:txBody>
          <a:bodyPr wrap="none">
            <a:spAutoFit/>
          </a:bodyPr>
          <a:lstStyle/>
          <a:p>
            <a:pPr>
              <a:defRPr sz="2000">
                <a:solidFill>
                  <a:srgbClr val="282828"/>
                </a:solidFill>
              </a:defRPr>
            </a:pPr>
            <a:r>
              <a:t>Data growth is outpacing current systems</a:t>
            </a:r>
          </a:p>
          <a:p>
            <a:pPr>
              <a:defRPr sz="2000">
                <a:solidFill>
                  <a:srgbClr val="282828"/>
                </a:solidFill>
              </a:defRPr>
            </a:pPr>
            <a:r>
              <a:t>Operational and compliance risks are increasing</a:t>
            </a:r>
          </a:p>
          <a:p>
            <a:pPr>
              <a:defRPr sz="2000">
                <a:solidFill>
                  <a:srgbClr val="282828"/>
                </a:solidFill>
              </a:defRPr>
            </a:pPr>
            <a:r>
              <a:t>Delaying action compounds cost and complexity</a:t>
            </a:r>
          </a:p>
        </p:txBody>
      </p:sp>
      <p:sp>
        <p:nvSpPr>
          <p:cNvPr id="5" name="TextBox 4"/>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44F9A-4368-4EDB-D329-066C882E1D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FF6409-AC31-E69C-1F53-3E0ECEF708BB}"/>
              </a:ext>
            </a:extLst>
          </p:cNvPr>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78D9787-6F96-2935-3033-FABD109D2D58}"/>
              </a:ext>
            </a:extLst>
          </p:cNvPr>
          <p:cNvSpPr txBox="1"/>
          <p:nvPr/>
        </p:nvSpPr>
        <p:spPr>
          <a:xfrm>
            <a:off x="731520" y="274320"/>
            <a:ext cx="4146584" cy="492443"/>
          </a:xfrm>
          <a:prstGeom prst="rect">
            <a:avLst/>
          </a:prstGeom>
          <a:noFill/>
        </p:spPr>
        <p:txBody>
          <a:bodyPr wrap="none">
            <a:spAutoFit/>
          </a:bodyPr>
          <a:lstStyle/>
          <a:p>
            <a:pPr>
              <a:defRPr sz="2600" b="1">
                <a:solidFill>
                  <a:srgbClr val="FFFFFF"/>
                </a:solidFill>
              </a:defRPr>
            </a:pPr>
            <a:r>
              <a:rPr lang="en-US" dirty="0"/>
              <a:t>Data Warehouse v Data Lake</a:t>
            </a:r>
            <a:endParaRPr dirty="0"/>
          </a:p>
        </p:txBody>
      </p:sp>
      <p:sp>
        <p:nvSpPr>
          <p:cNvPr id="5" name="TextBox 4">
            <a:extLst>
              <a:ext uri="{FF2B5EF4-FFF2-40B4-BE49-F238E27FC236}">
                <a16:creationId xmlns:a16="http://schemas.microsoft.com/office/drawing/2014/main" id="{188A7EC7-DA00-6AF8-5C6E-7722F9374481}"/>
              </a:ext>
            </a:extLst>
          </p:cNvPr>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5</a:t>
            </a:r>
          </a:p>
        </p:txBody>
      </p:sp>
      <p:sp>
        <p:nvSpPr>
          <p:cNvPr id="6" name="Google Shape;90;p17">
            <a:extLst>
              <a:ext uri="{FF2B5EF4-FFF2-40B4-BE49-F238E27FC236}">
                <a16:creationId xmlns:a16="http://schemas.microsoft.com/office/drawing/2014/main" id="{DC694C9D-C863-6764-3512-215ED27B8A06}"/>
              </a:ext>
            </a:extLst>
          </p:cNvPr>
          <p:cNvSpPr txBox="1">
            <a:spLocks/>
          </p:cNvSpPr>
          <p:nvPr/>
        </p:nvSpPr>
        <p:spPr>
          <a:xfrm>
            <a:off x="633975" y="2289663"/>
            <a:ext cx="3442200" cy="3454200"/>
          </a:xfrm>
          <a:prstGeom prst="rect">
            <a:avLst/>
          </a:prstGeom>
        </p:spPr>
        <p:txBody>
          <a:bodyPr spcFirstLastPara="1" wrap="square" lIns="91425" tIns="91425" rIns="91425" bIns="91425"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317500">
              <a:spcBef>
                <a:spcPts val="0"/>
              </a:spcBef>
              <a:buSzPts val="1400"/>
              <a:buFont typeface="Arial"/>
              <a:buChar char="●"/>
            </a:pPr>
            <a:r>
              <a:rPr lang="pt-BR" sz="2400"/>
              <a:t>Structured data only</a:t>
            </a:r>
          </a:p>
          <a:p>
            <a:pPr marL="457200" indent="-317500">
              <a:spcBef>
                <a:spcPts val="0"/>
              </a:spcBef>
              <a:buSzPts val="1400"/>
              <a:buFont typeface="Arial"/>
              <a:buChar char="●"/>
            </a:pPr>
            <a:r>
              <a:rPr lang="pt-BR" sz="2400"/>
              <a:t>Demands processing</a:t>
            </a:r>
          </a:p>
          <a:p>
            <a:pPr marL="457200" indent="-317500">
              <a:spcBef>
                <a:spcPts val="0"/>
              </a:spcBef>
              <a:buSzPts val="1400"/>
              <a:buFont typeface="Arial"/>
              <a:buChar char="●"/>
            </a:pPr>
            <a:r>
              <a:rPr lang="pt-BR" sz="2400"/>
              <a:t>Need to know the data beforehand</a:t>
            </a:r>
          </a:p>
          <a:p>
            <a:pPr marL="457200" indent="-317500">
              <a:spcBef>
                <a:spcPts val="0"/>
              </a:spcBef>
              <a:buSzPts val="1400"/>
              <a:buFont typeface="Arial"/>
              <a:buChar char="●"/>
            </a:pPr>
            <a:r>
              <a:rPr lang="pt-BR" sz="2400"/>
              <a:t>Optimized for query</a:t>
            </a:r>
            <a:endParaRPr lang="pt-BR" sz="2400" dirty="0"/>
          </a:p>
        </p:txBody>
      </p:sp>
      <p:sp>
        <p:nvSpPr>
          <p:cNvPr id="7" name="Google Shape;91;p17">
            <a:extLst>
              <a:ext uri="{FF2B5EF4-FFF2-40B4-BE49-F238E27FC236}">
                <a16:creationId xmlns:a16="http://schemas.microsoft.com/office/drawing/2014/main" id="{B1F6A874-6124-1AF6-8B99-2E9A40DAD52E}"/>
              </a:ext>
            </a:extLst>
          </p:cNvPr>
          <p:cNvSpPr txBox="1">
            <a:spLocks/>
          </p:cNvSpPr>
          <p:nvPr/>
        </p:nvSpPr>
        <p:spPr>
          <a:xfrm>
            <a:off x="5058825" y="2213463"/>
            <a:ext cx="3442200" cy="3329700"/>
          </a:xfrm>
          <a:prstGeom prst="rect">
            <a:avLst/>
          </a:prstGeom>
        </p:spPr>
        <p:txBody>
          <a:bodyPr spcFirstLastPara="1" wrap="square" lIns="91425" tIns="91425" rIns="91425" bIns="91425"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317500">
              <a:spcBef>
                <a:spcPts val="0"/>
              </a:spcBef>
              <a:buSzPts val="1400"/>
              <a:buFont typeface="Arial"/>
              <a:buChar char="●"/>
            </a:pPr>
            <a:r>
              <a:rPr lang="en-GB" sz="2400"/>
              <a:t>Flexible</a:t>
            </a:r>
          </a:p>
          <a:p>
            <a:pPr marL="457200" indent="-317500">
              <a:spcBef>
                <a:spcPts val="0"/>
              </a:spcBef>
              <a:buSzPts val="1400"/>
              <a:buFont typeface="Arial"/>
              <a:buChar char="●"/>
            </a:pPr>
            <a:r>
              <a:rPr lang="en-GB" sz="2400"/>
              <a:t>Multiple sources</a:t>
            </a:r>
          </a:p>
          <a:p>
            <a:pPr marL="457200" indent="-317500">
              <a:spcBef>
                <a:spcPts val="0"/>
              </a:spcBef>
              <a:buSzPts val="1400"/>
              <a:buFont typeface="Arial"/>
              <a:buChar char="●"/>
            </a:pPr>
            <a:r>
              <a:rPr lang="en-GB" sz="2400"/>
              <a:t>Leverage Machine Learning</a:t>
            </a:r>
          </a:p>
          <a:p>
            <a:pPr marL="457200" indent="-317500">
              <a:spcBef>
                <a:spcPts val="0"/>
              </a:spcBef>
              <a:buSzPts val="1400"/>
              <a:buFont typeface="Arial"/>
              <a:buChar char="●"/>
            </a:pPr>
            <a:r>
              <a:rPr lang="en-GB" sz="2400"/>
              <a:t>Cheap</a:t>
            </a:r>
            <a:endParaRPr lang="en-GB" sz="2400" dirty="0"/>
          </a:p>
        </p:txBody>
      </p:sp>
      <p:sp>
        <p:nvSpPr>
          <p:cNvPr id="8" name="Google Shape;92;p17">
            <a:extLst>
              <a:ext uri="{FF2B5EF4-FFF2-40B4-BE49-F238E27FC236}">
                <a16:creationId xmlns:a16="http://schemas.microsoft.com/office/drawing/2014/main" id="{7E4D7BCB-C31F-7E38-7E5D-054F8786B766}"/>
              </a:ext>
            </a:extLst>
          </p:cNvPr>
          <p:cNvSpPr txBox="1">
            <a:spLocks/>
          </p:cNvSpPr>
          <p:nvPr/>
        </p:nvSpPr>
        <p:spPr>
          <a:xfrm>
            <a:off x="557775" y="1640763"/>
            <a:ext cx="3518400" cy="572700"/>
          </a:xfrm>
          <a:prstGeom prst="rect">
            <a:avLst/>
          </a:prstGeom>
        </p:spPr>
        <p:txBody>
          <a:bodyPr spcFirstLastPara="1" wrap="square" lIns="91425" tIns="91425" rIns="91425" bIns="91425"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spcBef>
                <a:spcPts val="0"/>
              </a:spcBef>
            </a:pPr>
            <a:r>
              <a:rPr lang="en-GB" sz="3600"/>
              <a:t>Data Warehouse</a:t>
            </a:r>
          </a:p>
          <a:p>
            <a:pPr algn="l">
              <a:spcBef>
                <a:spcPts val="0"/>
              </a:spcBef>
            </a:pPr>
            <a:endParaRPr lang="en-GB" sz="3600" dirty="0"/>
          </a:p>
        </p:txBody>
      </p:sp>
      <p:sp>
        <p:nvSpPr>
          <p:cNvPr id="10" name="Google Shape;94;p17">
            <a:extLst>
              <a:ext uri="{FF2B5EF4-FFF2-40B4-BE49-F238E27FC236}">
                <a16:creationId xmlns:a16="http://schemas.microsoft.com/office/drawing/2014/main" id="{ADE46DA2-880F-230B-AF6A-EAB3D27D022B}"/>
              </a:ext>
            </a:extLst>
          </p:cNvPr>
          <p:cNvSpPr txBox="1">
            <a:spLocks/>
          </p:cNvSpPr>
          <p:nvPr/>
        </p:nvSpPr>
        <p:spPr>
          <a:xfrm>
            <a:off x="4982625" y="1608638"/>
            <a:ext cx="3518400" cy="572700"/>
          </a:xfrm>
          <a:prstGeom prst="rect">
            <a:avLst/>
          </a:prstGeom>
        </p:spPr>
        <p:txBody>
          <a:bodyPr spcFirstLastPara="1" wrap="square" lIns="91425" tIns="91425" rIns="91425" bIns="91425"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spcBef>
                <a:spcPts val="0"/>
              </a:spcBef>
            </a:pPr>
            <a:r>
              <a:rPr lang="en-GB" sz="3600"/>
              <a:t>Data Lake</a:t>
            </a:r>
          </a:p>
          <a:p>
            <a:pPr algn="l">
              <a:spcBef>
                <a:spcPts val="0"/>
              </a:spcBef>
            </a:pPr>
            <a:endParaRPr lang="en-GB" sz="3600"/>
          </a:p>
        </p:txBody>
      </p:sp>
    </p:spTree>
    <p:extLst>
      <p:ext uri="{BB962C8B-B14F-4D97-AF65-F5344CB8AC3E}">
        <p14:creationId xmlns:p14="http://schemas.microsoft.com/office/powerpoint/2010/main" val="2509619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058400" cy="640080"/>
          </a:xfrm>
          <a:prstGeom prst="rect">
            <a:avLst/>
          </a:prstGeom>
          <a:noFill/>
        </p:spPr>
        <p:txBody>
          <a:bodyPr wrap="none">
            <a:spAutoFit/>
          </a:bodyPr>
          <a:lstStyle/>
          <a:p>
            <a:pPr>
              <a:defRPr sz="2600" b="1">
                <a:solidFill>
                  <a:srgbClr val="FFFFFF"/>
                </a:solidFill>
              </a:defRPr>
            </a:pPr>
            <a:r>
              <a:t>What Happens If We Don’t Act</a:t>
            </a:r>
          </a:p>
        </p:txBody>
      </p:sp>
      <p:sp>
        <p:nvSpPr>
          <p:cNvPr id="4" name="TextBox 3"/>
          <p:cNvSpPr txBox="1"/>
          <p:nvPr/>
        </p:nvSpPr>
        <p:spPr>
          <a:xfrm>
            <a:off x="914400" y="1463040"/>
            <a:ext cx="10332720" cy="4389120"/>
          </a:xfrm>
          <a:prstGeom prst="rect">
            <a:avLst/>
          </a:prstGeom>
          <a:noFill/>
        </p:spPr>
        <p:txBody>
          <a:bodyPr wrap="none">
            <a:spAutoFit/>
          </a:bodyPr>
          <a:lstStyle/>
          <a:p>
            <a:pPr>
              <a:defRPr sz="2000">
                <a:solidFill>
                  <a:srgbClr val="282828"/>
                </a:solidFill>
              </a:defRPr>
            </a:pPr>
            <a:r>
              <a:t>Escalating operational costs</a:t>
            </a:r>
          </a:p>
          <a:p>
            <a:pPr>
              <a:defRPr sz="2000">
                <a:solidFill>
                  <a:srgbClr val="282828"/>
                </a:solidFill>
              </a:defRPr>
            </a:pPr>
            <a:r>
              <a:t>Reduced executive visibility</a:t>
            </a:r>
          </a:p>
          <a:p>
            <a:pPr>
              <a:defRPr sz="2000">
                <a:solidFill>
                  <a:srgbClr val="282828"/>
                </a:solidFill>
              </a:defRPr>
            </a:pPr>
            <a:r>
              <a:t>Higher risk of outages and compliance breaches</a:t>
            </a:r>
          </a:p>
          <a:p>
            <a:pPr>
              <a:defRPr sz="2000">
                <a:solidFill>
                  <a:srgbClr val="282828"/>
                </a:solidFill>
              </a:defRPr>
            </a:pPr>
            <a:r>
              <a:t>Competitive disadvantage</a:t>
            </a:r>
          </a:p>
        </p:txBody>
      </p:sp>
      <p:sp>
        <p:nvSpPr>
          <p:cNvPr id="5" name="TextBox 4"/>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058400" cy="640080"/>
          </a:xfrm>
          <a:prstGeom prst="rect">
            <a:avLst/>
          </a:prstGeom>
          <a:noFill/>
        </p:spPr>
        <p:txBody>
          <a:bodyPr wrap="none">
            <a:spAutoFit/>
          </a:bodyPr>
          <a:lstStyle/>
          <a:p>
            <a:pPr>
              <a:defRPr sz="2600" b="1">
                <a:solidFill>
                  <a:srgbClr val="FFFFFF"/>
                </a:solidFill>
              </a:defRPr>
            </a:pPr>
            <a:r>
              <a:t>Data Lake Capabilities (Abstract View)</a:t>
            </a:r>
          </a:p>
        </p:txBody>
      </p:sp>
      <p:sp>
        <p:nvSpPr>
          <p:cNvPr id="4" name="TextBox 3"/>
          <p:cNvSpPr txBox="1"/>
          <p:nvPr/>
        </p:nvSpPr>
        <p:spPr>
          <a:xfrm>
            <a:off x="914400" y="1463040"/>
            <a:ext cx="7700963" cy="2554545"/>
          </a:xfrm>
          <a:prstGeom prst="rect">
            <a:avLst/>
          </a:prstGeom>
          <a:noFill/>
        </p:spPr>
        <p:txBody>
          <a:bodyPr wrap="square">
            <a:spAutoFit/>
          </a:bodyPr>
          <a:lstStyle/>
          <a:p>
            <a:pPr algn="just">
              <a:defRPr sz="2000">
                <a:solidFill>
                  <a:srgbClr val="282828"/>
                </a:solidFill>
              </a:defRPr>
            </a:pPr>
            <a:r>
              <a:rPr lang="en-GB" sz="2000" dirty="0"/>
              <a:t>A single, secure place where a company stores </a:t>
            </a:r>
            <a:r>
              <a:rPr lang="en-GB" sz="2000" i="1" dirty="0"/>
              <a:t>all</a:t>
            </a:r>
            <a:r>
              <a:rPr lang="en-GB" sz="2000" dirty="0"/>
              <a:t> its data so it can be easily used to make better decisions.</a:t>
            </a:r>
          </a:p>
          <a:p>
            <a:pPr algn="just">
              <a:defRPr sz="2000">
                <a:solidFill>
                  <a:srgbClr val="282828"/>
                </a:solidFill>
              </a:defRPr>
            </a:pPr>
            <a:endParaRPr lang="en-US" dirty="0"/>
          </a:p>
          <a:p>
            <a:pPr marL="342900" indent="-342900" algn="just">
              <a:buFont typeface="Arial" panose="020B0604020202020204" pitchFamily="34" charset="0"/>
              <a:buChar char="•"/>
              <a:defRPr sz="2000">
                <a:solidFill>
                  <a:srgbClr val="282828"/>
                </a:solidFill>
              </a:defRPr>
            </a:pPr>
            <a:r>
              <a:rPr dirty="0"/>
              <a:t>Unified enterprise data intake</a:t>
            </a:r>
          </a:p>
          <a:p>
            <a:pPr marL="342900" indent="-342900" algn="just">
              <a:buFont typeface="Arial" panose="020B0604020202020204" pitchFamily="34" charset="0"/>
              <a:buChar char="•"/>
              <a:defRPr sz="2000">
                <a:solidFill>
                  <a:srgbClr val="282828"/>
                </a:solidFill>
              </a:defRPr>
            </a:pPr>
            <a:r>
              <a:rPr dirty="0"/>
              <a:t>Secure and scalable data foundation</a:t>
            </a:r>
          </a:p>
          <a:p>
            <a:pPr marL="342900" indent="-342900" algn="just">
              <a:buFont typeface="Arial" panose="020B0604020202020204" pitchFamily="34" charset="0"/>
              <a:buChar char="•"/>
              <a:defRPr sz="2000">
                <a:solidFill>
                  <a:srgbClr val="282828"/>
                </a:solidFill>
              </a:defRPr>
            </a:pPr>
            <a:r>
              <a:rPr dirty="0"/>
              <a:t>Reliable data preparation and enrichment</a:t>
            </a:r>
          </a:p>
          <a:p>
            <a:pPr marL="342900" indent="-342900" algn="just">
              <a:buFont typeface="Arial" panose="020B0604020202020204" pitchFamily="34" charset="0"/>
              <a:buChar char="•"/>
              <a:defRPr sz="2000">
                <a:solidFill>
                  <a:srgbClr val="282828"/>
                </a:solidFill>
              </a:defRPr>
            </a:pPr>
            <a:r>
              <a:rPr dirty="0"/>
              <a:t>Self-service analytics and AI enablement</a:t>
            </a:r>
          </a:p>
          <a:p>
            <a:pPr marL="342900" indent="-342900" algn="just">
              <a:buFont typeface="Arial" panose="020B0604020202020204" pitchFamily="34" charset="0"/>
              <a:buChar char="•"/>
              <a:defRPr sz="2000">
                <a:solidFill>
                  <a:srgbClr val="282828"/>
                </a:solidFill>
              </a:defRPr>
            </a:pPr>
            <a:r>
              <a:rPr dirty="0"/>
              <a:t>Governance and auditability by design</a:t>
            </a:r>
          </a:p>
        </p:txBody>
      </p:sp>
      <p:sp>
        <p:nvSpPr>
          <p:cNvPr id="5" name="TextBox 4"/>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B9B6F-9F6A-0378-11F0-F97315461C0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6912F2-829C-CB04-E699-CE6A893129A7}"/>
              </a:ext>
            </a:extLst>
          </p:cNvPr>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D79CB9B-5F70-5D73-2EBE-F25683D89C1D}"/>
              </a:ext>
            </a:extLst>
          </p:cNvPr>
          <p:cNvSpPr txBox="1"/>
          <p:nvPr/>
        </p:nvSpPr>
        <p:spPr>
          <a:xfrm>
            <a:off x="731520" y="274320"/>
            <a:ext cx="3368936" cy="492443"/>
          </a:xfrm>
          <a:prstGeom prst="rect">
            <a:avLst/>
          </a:prstGeom>
          <a:noFill/>
        </p:spPr>
        <p:txBody>
          <a:bodyPr wrap="none">
            <a:spAutoFit/>
          </a:bodyPr>
          <a:lstStyle/>
          <a:p>
            <a:pPr>
              <a:defRPr sz="2600" b="1">
                <a:solidFill>
                  <a:srgbClr val="FFFFFF"/>
                </a:solidFill>
              </a:defRPr>
            </a:pPr>
            <a:r>
              <a:rPr lang="en-US" dirty="0"/>
              <a:t>Data Lake Components</a:t>
            </a:r>
            <a:endParaRPr dirty="0"/>
          </a:p>
        </p:txBody>
      </p:sp>
      <p:sp>
        <p:nvSpPr>
          <p:cNvPr id="5" name="TextBox 4">
            <a:extLst>
              <a:ext uri="{FF2B5EF4-FFF2-40B4-BE49-F238E27FC236}">
                <a16:creationId xmlns:a16="http://schemas.microsoft.com/office/drawing/2014/main" id="{17193E15-022D-C3B4-8407-B623BE572489}"/>
              </a:ext>
            </a:extLst>
          </p:cNvPr>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7</a:t>
            </a:r>
          </a:p>
        </p:txBody>
      </p:sp>
      <p:sp>
        <p:nvSpPr>
          <p:cNvPr id="7" name="TextBox 6">
            <a:extLst>
              <a:ext uri="{FF2B5EF4-FFF2-40B4-BE49-F238E27FC236}">
                <a16:creationId xmlns:a16="http://schemas.microsoft.com/office/drawing/2014/main" id="{E3A8F849-60BC-7DEF-759B-2051ABB63852}"/>
              </a:ext>
            </a:extLst>
          </p:cNvPr>
          <p:cNvSpPr txBox="1"/>
          <p:nvPr/>
        </p:nvSpPr>
        <p:spPr>
          <a:xfrm>
            <a:off x="532208" y="1371600"/>
            <a:ext cx="8283179" cy="4099969"/>
          </a:xfrm>
          <a:prstGeom prst="rect">
            <a:avLst/>
          </a:prstGeom>
          <a:noFill/>
        </p:spPr>
        <p:txBody>
          <a:bodyPr wrap="square">
            <a:spAutoFit/>
          </a:bodyPr>
          <a:lstStyle/>
          <a:p>
            <a:pPr marL="285750" indent="-285750" algn="just">
              <a:lnSpc>
                <a:spcPct val="115000"/>
              </a:lnSpc>
              <a:spcBef>
                <a:spcPts val="1000"/>
              </a:spcBef>
              <a:buFont typeface="Wingdings" pitchFamily="2" charset="2"/>
              <a:buChar char="Ø"/>
            </a:pPr>
            <a:r>
              <a:rPr lang="en-US" sz="16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Ingestion Layer (Grading: Ingestion Design)</a:t>
            </a:r>
            <a:endParaRPr lang="en-NG" sz="16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gn="just">
              <a:lnSpc>
                <a:spcPct val="115000"/>
              </a:lnSpc>
              <a:spcAft>
                <a:spcPts val="1000"/>
              </a:spcAft>
            </a:pPr>
            <a:r>
              <a:rPr lang="en-US" sz="1200" dirty="0">
                <a:effectLst/>
                <a:latin typeface="Cambria" panose="02040503050406030204" pitchFamily="18" charset="0"/>
                <a:ea typeface="MS Mincho" panose="02020609040205080304" pitchFamily="49" charset="-128"/>
                <a:cs typeface="Times New Roman" panose="02020603050405020304" pitchFamily="18" charset="0"/>
              </a:rPr>
              <a:t>Data is ingested from APIs, FTP servers, and databases using Apache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NiFi</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for routing and transformation, Apache Kafka for event-driven buffering, and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Debezium</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for CDC. This design supports batch and near-real-time ingestion and scales horizontally.</a:t>
            </a:r>
            <a:endParaRPr lang="en-NG" sz="1200" dirty="0">
              <a:effectLst/>
              <a:latin typeface="Cambria" panose="02040503050406030204" pitchFamily="18" charset="0"/>
              <a:ea typeface="MS Mincho" panose="02020609040205080304" pitchFamily="49" charset="-128"/>
              <a:cs typeface="Times New Roman" panose="02020603050405020304" pitchFamily="18" charset="0"/>
            </a:endParaRPr>
          </a:p>
          <a:p>
            <a:pPr marL="285750" indent="-285750" algn="just">
              <a:lnSpc>
                <a:spcPct val="115000"/>
              </a:lnSpc>
              <a:spcBef>
                <a:spcPts val="1000"/>
              </a:spcBef>
              <a:buFont typeface="Wingdings" pitchFamily="2" charset="2"/>
              <a:buChar char="Ø"/>
            </a:pPr>
            <a:r>
              <a:rPr lang="en-US" sz="16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Storage Layer (Grading: Storage &amp; Metadata Design)</a:t>
            </a:r>
            <a:endParaRPr lang="en-NG" sz="16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gn="just">
              <a:lnSpc>
                <a:spcPct val="115000"/>
              </a:lnSpc>
              <a:spcAft>
                <a:spcPts val="1000"/>
              </a:spcAft>
            </a:pPr>
            <a:r>
              <a:rPr lang="en-US" sz="1200" dirty="0">
                <a:effectLst/>
                <a:latin typeface="Cambria" panose="02040503050406030204" pitchFamily="18" charset="0"/>
                <a:ea typeface="MS Mincho" panose="02020609040205080304" pitchFamily="49" charset="-128"/>
                <a:cs typeface="Times New Roman" panose="02020603050405020304" pitchFamily="18" charset="0"/>
              </a:rPr>
              <a:t>A Data Lake on object storage is organized into Bronze, Silver, and Gold zones. Apache HDFS/Hive, Apache Cassandra or MongoDB is used as a NoSQL metadata store for schema registry, dataset definitions, and reference data. Parquet is used for optimized analytics, with encryption and access controls for security.</a:t>
            </a:r>
            <a:endParaRPr lang="en-NG" sz="1200" dirty="0">
              <a:effectLst/>
              <a:latin typeface="Cambria" panose="02040503050406030204" pitchFamily="18" charset="0"/>
              <a:ea typeface="MS Mincho" panose="02020609040205080304" pitchFamily="49" charset="-128"/>
              <a:cs typeface="Times New Roman" panose="02020603050405020304" pitchFamily="18" charset="0"/>
            </a:endParaRPr>
          </a:p>
          <a:p>
            <a:pPr marL="285750" indent="-285750" algn="just">
              <a:lnSpc>
                <a:spcPct val="115000"/>
              </a:lnSpc>
              <a:spcBef>
                <a:spcPts val="1000"/>
              </a:spcBef>
              <a:buFont typeface="Wingdings" pitchFamily="2" charset="2"/>
              <a:buChar char="Ø"/>
            </a:pPr>
            <a:r>
              <a:rPr lang="en-US" sz="16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Processing Layer (Grading: Processing &amp; Scalability)</a:t>
            </a:r>
            <a:endParaRPr lang="en-NG" sz="16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gn="just">
              <a:lnSpc>
                <a:spcPct val="115000"/>
              </a:lnSpc>
              <a:spcAft>
                <a:spcPts val="1000"/>
              </a:spcAft>
            </a:pPr>
            <a:r>
              <a:rPr lang="en-US" sz="1200" dirty="0">
                <a:effectLst/>
                <a:latin typeface="Cambria" panose="02040503050406030204" pitchFamily="18" charset="0"/>
                <a:ea typeface="MS Mincho" panose="02020609040205080304" pitchFamily="49" charset="-128"/>
                <a:cs typeface="Times New Roman" panose="02020603050405020304" pitchFamily="18" charset="0"/>
              </a:rPr>
              <a:t>Apache Spark handles batch and streaming workloads. Delta Lake, Apache Hudi, or Iceberg enable ACID transactions, UPSERTs, and CDC. Apache Airflow orchestrates workflows. The system scales horizontally and tolerates node failures.</a:t>
            </a:r>
            <a:endParaRPr lang="en-NG" sz="1200" dirty="0">
              <a:effectLst/>
              <a:latin typeface="Cambria" panose="02040503050406030204" pitchFamily="18" charset="0"/>
              <a:ea typeface="MS Mincho" panose="02020609040205080304" pitchFamily="49" charset="-128"/>
              <a:cs typeface="Times New Roman" panose="02020603050405020304" pitchFamily="18" charset="0"/>
            </a:endParaRPr>
          </a:p>
          <a:p>
            <a:pPr marL="285750" indent="-285750" algn="just">
              <a:lnSpc>
                <a:spcPct val="115000"/>
              </a:lnSpc>
              <a:spcBef>
                <a:spcPts val="1000"/>
              </a:spcBef>
              <a:buFont typeface="Wingdings" pitchFamily="2" charset="2"/>
              <a:buChar char="Ø"/>
            </a:pPr>
            <a:r>
              <a:rPr lang="en-US" sz="16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Serving Layer (Grading: Serving &amp; Consumption)</a:t>
            </a:r>
            <a:endParaRPr lang="en-NG" sz="16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a:p>
            <a:pPr algn="just">
              <a:lnSpc>
                <a:spcPct val="115000"/>
              </a:lnSpc>
              <a:spcAft>
                <a:spcPts val="1000"/>
              </a:spcAft>
            </a:pPr>
            <a:r>
              <a:rPr lang="en-US" sz="1200" dirty="0">
                <a:effectLst/>
                <a:latin typeface="Cambria" panose="02040503050406030204" pitchFamily="18" charset="0"/>
                <a:ea typeface="MS Mincho" panose="02020609040205080304" pitchFamily="49" charset="-128"/>
                <a:cs typeface="Times New Roman" panose="02020603050405020304" pitchFamily="18" charset="0"/>
              </a:rPr>
              <a:t>Curated Gold datasets are served to BI tools such as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PowerBI</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and Tableau via Trino or Spark SQL. Machine learning frameworks like TensorFlow and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PyTorch</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access the same datasets directly. APIs are supported using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FastAPI</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or Spring Boot.</a:t>
            </a:r>
            <a:endParaRPr lang="en-NG" sz="12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932620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058400" cy="640080"/>
          </a:xfrm>
          <a:prstGeom prst="rect">
            <a:avLst/>
          </a:prstGeom>
          <a:noFill/>
        </p:spPr>
        <p:txBody>
          <a:bodyPr wrap="none">
            <a:spAutoFit/>
          </a:bodyPr>
          <a:lstStyle/>
          <a:p>
            <a:pPr>
              <a:defRPr sz="2600" b="1">
                <a:solidFill>
                  <a:srgbClr val="FFFFFF"/>
                </a:solidFill>
              </a:defRPr>
            </a:pPr>
            <a:r>
              <a:t>Board-Level Takeaway</a:t>
            </a:r>
          </a:p>
        </p:txBody>
      </p:sp>
      <p:sp>
        <p:nvSpPr>
          <p:cNvPr id="4" name="TextBox 3"/>
          <p:cNvSpPr txBox="1"/>
          <p:nvPr/>
        </p:nvSpPr>
        <p:spPr>
          <a:xfrm>
            <a:off x="914400" y="1463040"/>
            <a:ext cx="10332720" cy="4389120"/>
          </a:xfrm>
          <a:prstGeom prst="rect">
            <a:avLst/>
          </a:prstGeom>
          <a:noFill/>
        </p:spPr>
        <p:txBody>
          <a:bodyPr wrap="none">
            <a:spAutoFit/>
          </a:bodyPr>
          <a:lstStyle/>
          <a:p>
            <a:pPr>
              <a:defRPr sz="2000">
                <a:solidFill>
                  <a:srgbClr val="282828"/>
                </a:solidFill>
              </a:defRPr>
            </a:pPr>
            <a:r>
              <a:t>This is a strategic business platform</a:t>
            </a:r>
          </a:p>
          <a:p>
            <a:pPr>
              <a:defRPr sz="2000">
                <a:solidFill>
                  <a:srgbClr val="282828"/>
                </a:solidFill>
              </a:defRPr>
            </a:pPr>
            <a:r>
              <a:t>It reduces risk and enables growth</a:t>
            </a:r>
          </a:p>
          <a:p>
            <a:pPr>
              <a:defRPr sz="2000">
                <a:solidFill>
                  <a:srgbClr val="282828"/>
                </a:solidFill>
              </a:defRPr>
            </a:pPr>
            <a:r>
              <a:t>Investment scales with business value</a:t>
            </a:r>
          </a:p>
        </p:txBody>
      </p:sp>
      <p:sp>
        <p:nvSpPr>
          <p:cNvPr id="5" name="TextBox 4"/>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9DF80-BAD8-FAA0-6672-65328D8371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812073C-2C4F-F3FC-1712-F5ED662E52B6}"/>
              </a:ext>
            </a:extLst>
          </p:cNvPr>
          <p:cNvSpPr/>
          <p:nvPr/>
        </p:nvSpPr>
        <p:spPr>
          <a:xfrm>
            <a:off x="0" y="0"/>
            <a:ext cx="12161520" cy="1097280"/>
          </a:xfrm>
          <a:prstGeom prst="rect">
            <a:avLst/>
          </a:prstGeom>
          <a:solidFill>
            <a:srgbClr val="14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3482DD5-B905-768D-41A9-85E964117F59}"/>
              </a:ext>
            </a:extLst>
          </p:cNvPr>
          <p:cNvSpPr txBox="1"/>
          <p:nvPr/>
        </p:nvSpPr>
        <p:spPr>
          <a:xfrm>
            <a:off x="731520" y="274320"/>
            <a:ext cx="3324243" cy="492443"/>
          </a:xfrm>
          <a:prstGeom prst="rect">
            <a:avLst/>
          </a:prstGeom>
          <a:noFill/>
        </p:spPr>
        <p:txBody>
          <a:bodyPr wrap="none">
            <a:spAutoFit/>
          </a:bodyPr>
          <a:lstStyle/>
          <a:p>
            <a:pPr>
              <a:defRPr sz="2600" b="1">
                <a:solidFill>
                  <a:srgbClr val="FFFFFF"/>
                </a:solidFill>
              </a:defRPr>
            </a:pPr>
            <a:r>
              <a:rPr lang="en-US" dirty="0"/>
              <a:t>Data Lake Architecture</a:t>
            </a:r>
            <a:endParaRPr dirty="0"/>
          </a:p>
        </p:txBody>
      </p:sp>
      <p:sp>
        <p:nvSpPr>
          <p:cNvPr id="5" name="TextBox 4">
            <a:extLst>
              <a:ext uri="{FF2B5EF4-FFF2-40B4-BE49-F238E27FC236}">
                <a16:creationId xmlns:a16="http://schemas.microsoft.com/office/drawing/2014/main" id="{5673E9E5-3425-4C62-D7C3-DA9A48D2402F}"/>
              </a:ext>
            </a:extLst>
          </p:cNvPr>
          <p:cNvSpPr txBox="1"/>
          <p:nvPr/>
        </p:nvSpPr>
        <p:spPr>
          <a:xfrm>
            <a:off x="11155680" y="6309360"/>
            <a:ext cx="914400" cy="365760"/>
          </a:xfrm>
          <a:prstGeom prst="rect">
            <a:avLst/>
          </a:prstGeom>
          <a:noFill/>
        </p:spPr>
        <p:txBody>
          <a:bodyPr wrap="none">
            <a:spAutoFit/>
          </a:bodyPr>
          <a:lstStyle/>
          <a:p>
            <a:pPr algn="r">
              <a:defRPr sz="1200">
                <a:solidFill>
                  <a:srgbClr val="787878"/>
                </a:solidFill>
              </a:defRPr>
            </a:pPr>
            <a:r>
              <a:t>8</a:t>
            </a:r>
          </a:p>
        </p:txBody>
      </p:sp>
      <p:pic>
        <p:nvPicPr>
          <p:cNvPr id="7" name="Picture 6">
            <a:extLst>
              <a:ext uri="{FF2B5EF4-FFF2-40B4-BE49-F238E27FC236}">
                <a16:creationId xmlns:a16="http://schemas.microsoft.com/office/drawing/2014/main" id="{17636976-5BD9-748C-4CDC-436FF784F80A}"/>
              </a:ext>
            </a:extLst>
          </p:cNvPr>
          <p:cNvPicPr>
            <a:picLocks noChangeAspect="1"/>
          </p:cNvPicPr>
          <p:nvPr/>
        </p:nvPicPr>
        <p:blipFill>
          <a:blip r:embed="rId3"/>
          <a:stretch>
            <a:fillRect/>
          </a:stretch>
        </p:blipFill>
        <p:spPr>
          <a:xfrm>
            <a:off x="1085850" y="1268730"/>
            <a:ext cx="4475008" cy="5314950"/>
          </a:xfrm>
          <a:prstGeom prst="rect">
            <a:avLst/>
          </a:prstGeom>
        </p:spPr>
      </p:pic>
    </p:spTree>
    <p:extLst>
      <p:ext uri="{BB962C8B-B14F-4D97-AF65-F5344CB8AC3E}">
        <p14:creationId xmlns:p14="http://schemas.microsoft.com/office/powerpoint/2010/main" val="1348873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480</Words>
  <Application>Microsoft Macintosh PowerPoint</Application>
  <PresentationFormat>On-screen Show (4:3)</PresentationFormat>
  <Paragraphs>73</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Wingdings</vt:lpstr>
      <vt:lpstr>Office Theme</vt:lpstr>
      <vt:lpstr>Data Lake Value Proposition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Abiodun Dare</cp:lastModifiedBy>
  <cp:revision>8</cp:revision>
  <dcterms:created xsi:type="dcterms:W3CDTF">2013-01-27T09:14:16Z</dcterms:created>
  <dcterms:modified xsi:type="dcterms:W3CDTF">2025-12-18T13:08:53Z</dcterms:modified>
  <cp:category/>
</cp:coreProperties>
</file>